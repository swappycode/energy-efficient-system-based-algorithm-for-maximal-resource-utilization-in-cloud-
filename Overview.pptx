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  <p:sldId id="273" r:id="rId16"/>
    <p:sldId id="270" r:id="rId17"/>
    <p:sldId id="271" r:id="rId18"/>
    <p:sldId id="272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Poppins" panose="00000500000000000000" pitchFamily="2" charset="0"/>
      <p:regular r:id="rId24"/>
    </p:embeddedFont>
    <p:embeddedFont>
      <p:font typeface="Poppins Bold" panose="00000800000000000000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899814"/>
            <a:ext cx="10807194" cy="121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1"/>
              </a:lnSpc>
            </a:pPr>
            <a:r>
              <a:rPr lang="en-US" sz="337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ENERGY-EFFICIENT SYSTEM-BASED ALGORITHM FOR MAXIMAL RESOURCE UTILIZATION IN CLOUD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282660"/>
            <a:ext cx="7088425" cy="1790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</a:t>
            </a:r>
          </a:p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Swapnil kakade</a:t>
            </a:r>
          </a:p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Arvind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79265" y="1833579"/>
            <a:ext cx="7088425" cy="6515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</a:p>
          <a:p>
            <a:pPr marL="725848" lvl="1" indent="-362924" algn="l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  <a:p>
            <a:pPr marL="725848" lvl="1" indent="-362924" algn="l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  <a:p>
            <a:pPr marL="725848" lvl="1" indent="-362924" algn="l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Literature Review</a:t>
            </a:r>
          </a:p>
          <a:p>
            <a:pPr marL="725848" lvl="1" indent="-362924" algn="l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Motivations</a:t>
            </a:r>
          </a:p>
          <a:p>
            <a:pPr marL="725848" lvl="1" indent="-362924" algn="l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</a:p>
          <a:p>
            <a:pPr marL="725848" lvl="1" indent="-362924" algn="l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</a:p>
          <a:p>
            <a:pPr marL="725848" lvl="1" indent="-362924" algn="l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</a:p>
          <a:p>
            <a:pPr marL="725848" lvl="1" indent="-362924" algn="l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 and Future Work</a:t>
            </a:r>
          </a:p>
          <a:p>
            <a:pPr algn="l">
              <a:lnSpc>
                <a:spcPts val="4706"/>
              </a:lnSpc>
            </a:pPr>
            <a:endParaRPr lang="en-US" sz="336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706"/>
              </a:lnSpc>
            </a:pPr>
            <a:endParaRPr lang="en-US" sz="336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42354" y="1950443"/>
            <a:ext cx="15916946" cy="6386115"/>
            <a:chOff x="0" y="0"/>
            <a:chExt cx="4840817" cy="19422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40817" cy="1942208"/>
            </a:xfrm>
            <a:custGeom>
              <a:avLst/>
              <a:gdLst/>
              <a:ahLst/>
              <a:cxnLst/>
              <a:rect l="l" t="t" r="r" b="b"/>
              <a:pathLst>
                <a:path w="4840817" h="1942208">
                  <a:moveTo>
                    <a:pt x="24806" y="0"/>
                  </a:moveTo>
                  <a:lnTo>
                    <a:pt x="4816011" y="0"/>
                  </a:lnTo>
                  <a:cubicBezTo>
                    <a:pt x="4829711" y="0"/>
                    <a:pt x="4840817" y="11106"/>
                    <a:pt x="4840817" y="24806"/>
                  </a:cubicBezTo>
                  <a:lnTo>
                    <a:pt x="4840817" y="1917402"/>
                  </a:lnTo>
                  <a:cubicBezTo>
                    <a:pt x="4840817" y="1923980"/>
                    <a:pt x="4838204" y="1930290"/>
                    <a:pt x="4833552" y="1934942"/>
                  </a:cubicBezTo>
                  <a:cubicBezTo>
                    <a:pt x="4828900" y="1939594"/>
                    <a:pt x="4822590" y="1942208"/>
                    <a:pt x="4816011" y="1942208"/>
                  </a:cubicBezTo>
                  <a:lnTo>
                    <a:pt x="24806" y="1942208"/>
                  </a:lnTo>
                  <a:cubicBezTo>
                    <a:pt x="11106" y="1942208"/>
                    <a:pt x="0" y="1931102"/>
                    <a:pt x="0" y="1917402"/>
                  </a:cubicBezTo>
                  <a:lnTo>
                    <a:pt x="0" y="24806"/>
                  </a:lnTo>
                  <a:cubicBezTo>
                    <a:pt x="0" y="11106"/>
                    <a:pt x="11106" y="0"/>
                    <a:pt x="2480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840817" cy="1999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678603" y="2689604"/>
            <a:ext cx="7161688" cy="4703651"/>
          </a:xfrm>
          <a:custGeom>
            <a:avLst/>
            <a:gdLst/>
            <a:ahLst/>
            <a:cxnLst/>
            <a:rect l="l" t="t" r="r" b="b"/>
            <a:pathLst>
              <a:path w="7161688" h="4703651">
                <a:moveTo>
                  <a:pt x="0" y="0"/>
                </a:moveTo>
                <a:lnTo>
                  <a:pt x="7161689" y="0"/>
                </a:lnTo>
                <a:lnTo>
                  <a:pt x="7161689" y="4703651"/>
                </a:lnTo>
                <a:lnTo>
                  <a:pt x="0" y="4703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53218" y="2210430"/>
            <a:ext cx="7054433" cy="11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70"/>
              </a:lnSpc>
            </a:pPr>
            <a:r>
              <a:rPr lang="en-US" sz="6264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53218" y="3592254"/>
            <a:ext cx="6408430" cy="459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190" lvl="1" indent="-217095" algn="ctr">
              <a:lnSpc>
                <a:spcPts val="2815"/>
              </a:lnSpc>
              <a:buFont typeface="Arial"/>
              <a:buChar char="•"/>
            </a:pPr>
            <a:r>
              <a:rPr lang="en-US" sz="201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Cloud computing offers scalable, on-demand access to computing resources</a:t>
            </a:r>
          </a:p>
          <a:p>
            <a:pPr marL="434190" lvl="1" indent="-217095" algn="ctr">
              <a:lnSpc>
                <a:spcPts val="2815"/>
              </a:lnSpc>
              <a:buFont typeface="Arial"/>
              <a:buChar char="•"/>
            </a:pPr>
            <a:r>
              <a:rPr lang="en-US" sz="201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Massive data centers consume enormous amounts of energy</a:t>
            </a:r>
          </a:p>
          <a:p>
            <a:pPr marL="434190" lvl="1" indent="-217095" algn="ctr">
              <a:lnSpc>
                <a:spcPts val="2815"/>
              </a:lnSpc>
              <a:buFont typeface="Arial"/>
              <a:buChar char="•"/>
            </a:pPr>
            <a:r>
              <a:rPr lang="en-US" sz="201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Energy-efficient resource allocation (EE-RA) is critical for:</a:t>
            </a:r>
          </a:p>
          <a:p>
            <a:pPr marL="434190" lvl="1" indent="-217095" algn="ctr">
              <a:lnSpc>
                <a:spcPts val="2815"/>
              </a:lnSpc>
              <a:buFont typeface="Arial"/>
              <a:buChar char="•"/>
            </a:pPr>
            <a:r>
              <a:rPr lang="en-US" sz="201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Reducing operational costs</a:t>
            </a:r>
          </a:p>
          <a:p>
            <a:pPr marL="434190" lvl="1" indent="-217095" algn="ctr">
              <a:lnSpc>
                <a:spcPts val="2815"/>
              </a:lnSpc>
              <a:buFont typeface="Arial"/>
              <a:buChar char="•"/>
            </a:pPr>
            <a:r>
              <a:rPr lang="en-US" sz="201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Minimizing environmental impact</a:t>
            </a:r>
          </a:p>
          <a:p>
            <a:pPr marL="434190" lvl="1" indent="-217095" algn="ctr">
              <a:lnSpc>
                <a:spcPts val="2815"/>
              </a:lnSpc>
              <a:buFont typeface="Arial"/>
              <a:buChar char="•"/>
            </a:pPr>
            <a:r>
              <a:rPr lang="en-US" sz="201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Maximizing resource utilization</a:t>
            </a:r>
          </a:p>
          <a:p>
            <a:pPr marL="434190" lvl="1" indent="-217095" algn="ctr">
              <a:lnSpc>
                <a:spcPts val="2815"/>
              </a:lnSpc>
              <a:buFont typeface="Arial"/>
              <a:buChar char="•"/>
            </a:pPr>
            <a:r>
              <a:rPr lang="en-US" sz="201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System-based algorithms employ holistic strategies considering interplay between components</a:t>
            </a:r>
          </a:p>
          <a:p>
            <a:pPr algn="ctr">
              <a:lnSpc>
                <a:spcPts val="2815"/>
              </a:lnSpc>
            </a:pPr>
            <a:endParaRPr lang="en-US" sz="2011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75185" y="1229670"/>
            <a:ext cx="6152823" cy="146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13"/>
              </a:lnSpc>
            </a:pPr>
            <a:r>
              <a:rPr lang="en-US" sz="80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5116" y="3451205"/>
            <a:ext cx="11530094" cy="5410639"/>
            <a:chOff x="0" y="0"/>
            <a:chExt cx="3036733" cy="14250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36733" cy="1425024"/>
            </a:xfrm>
            <a:custGeom>
              <a:avLst/>
              <a:gdLst/>
              <a:ahLst/>
              <a:cxnLst/>
              <a:rect l="l" t="t" r="r" b="b"/>
              <a:pathLst>
                <a:path w="3036733" h="1425024">
                  <a:moveTo>
                    <a:pt x="34244" y="0"/>
                  </a:moveTo>
                  <a:lnTo>
                    <a:pt x="3002489" y="0"/>
                  </a:lnTo>
                  <a:cubicBezTo>
                    <a:pt x="3021401" y="0"/>
                    <a:pt x="3036733" y="15332"/>
                    <a:pt x="3036733" y="34244"/>
                  </a:cubicBezTo>
                  <a:lnTo>
                    <a:pt x="3036733" y="1390780"/>
                  </a:lnTo>
                  <a:cubicBezTo>
                    <a:pt x="3036733" y="1409693"/>
                    <a:pt x="3021401" y="1425024"/>
                    <a:pt x="3002489" y="1425024"/>
                  </a:cubicBezTo>
                  <a:lnTo>
                    <a:pt x="34244" y="1425024"/>
                  </a:lnTo>
                  <a:cubicBezTo>
                    <a:pt x="15332" y="1425024"/>
                    <a:pt x="0" y="1409693"/>
                    <a:pt x="0" y="1390780"/>
                  </a:cubicBezTo>
                  <a:lnTo>
                    <a:pt x="0" y="34244"/>
                  </a:lnTo>
                  <a:cubicBezTo>
                    <a:pt x="0" y="15332"/>
                    <a:pt x="15332" y="0"/>
                    <a:pt x="34244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036733" cy="1482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13452" y="3753441"/>
            <a:ext cx="9823489" cy="471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Resource Underutilization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Resources often allocated based on peak demand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Average utilization in data centers can be as low as 20%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Idle resources still consume up to 60% of peak power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Significant energy waste on inactive resources</a:t>
            </a: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4049" y="2691160"/>
            <a:ext cx="17483424" cy="7145104"/>
            <a:chOff x="0" y="0"/>
            <a:chExt cx="4604688" cy="18818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04688" cy="1881838"/>
            </a:xfrm>
            <a:custGeom>
              <a:avLst/>
              <a:gdLst/>
              <a:ahLst/>
              <a:cxnLst/>
              <a:rect l="l" t="t" r="r" b="b"/>
              <a:pathLst>
                <a:path w="4604688" h="1881838">
                  <a:moveTo>
                    <a:pt x="22584" y="0"/>
                  </a:moveTo>
                  <a:lnTo>
                    <a:pt x="4582104" y="0"/>
                  </a:lnTo>
                  <a:cubicBezTo>
                    <a:pt x="4594577" y="0"/>
                    <a:pt x="4604688" y="10111"/>
                    <a:pt x="4604688" y="22584"/>
                  </a:cubicBezTo>
                  <a:lnTo>
                    <a:pt x="4604688" y="1859255"/>
                  </a:lnTo>
                  <a:cubicBezTo>
                    <a:pt x="4604688" y="1871727"/>
                    <a:pt x="4594577" y="1881838"/>
                    <a:pt x="4582104" y="1881838"/>
                  </a:cubicBezTo>
                  <a:lnTo>
                    <a:pt x="22584" y="1881838"/>
                  </a:lnTo>
                  <a:cubicBezTo>
                    <a:pt x="10111" y="1881838"/>
                    <a:pt x="0" y="1871727"/>
                    <a:pt x="0" y="1859255"/>
                  </a:cubicBezTo>
                  <a:lnTo>
                    <a:pt x="0" y="22584"/>
                  </a:lnTo>
                  <a:cubicBezTo>
                    <a:pt x="0" y="10111"/>
                    <a:pt x="10111" y="0"/>
                    <a:pt x="22584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604688" cy="19389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141571" y="3948393"/>
            <a:ext cx="6490116" cy="4299126"/>
          </a:xfrm>
          <a:custGeom>
            <a:avLst/>
            <a:gdLst/>
            <a:ahLst/>
            <a:cxnLst/>
            <a:rect l="l" t="t" r="r" b="b"/>
            <a:pathLst>
              <a:path w="6490116" h="4299126">
                <a:moveTo>
                  <a:pt x="0" y="0"/>
                </a:moveTo>
                <a:lnTo>
                  <a:pt x="6490116" y="0"/>
                </a:lnTo>
                <a:lnTo>
                  <a:pt x="6490116" y="4299126"/>
                </a:lnTo>
                <a:lnTo>
                  <a:pt x="0" y="4299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75185" y="1229670"/>
            <a:ext cx="6152823" cy="146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13"/>
              </a:lnSpc>
            </a:pPr>
            <a:r>
              <a:rPr lang="en-US" sz="80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5185" y="3305605"/>
            <a:ext cx="9417887" cy="5840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777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Energy Inefficiency Challenges</a:t>
            </a:r>
          </a:p>
          <a:p>
            <a:pPr marL="599587" lvl="1" indent="-299793" algn="l">
              <a:lnSpc>
                <a:spcPts val="3888"/>
              </a:lnSpc>
              <a:buFont typeface="Arial"/>
              <a:buChar char="•"/>
            </a:pPr>
            <a:r>
              <a:rPr lang="en-US" sz="277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Inefficient resource allocation leads to higher energy consumption</a:t>
            </a:r>
          </a:p>
          <a:p>
            <a:pPr marL="599587" lvl="1" indent="-299793" algn="l">
              <a:lnSpc>
                <a:spcPts val="3888"/>
              </a:lnSpc>
              <a:buFont typeface="Arial"/>
              <a:buChar char="•"/>
            </a:pPr>
            <a:r>
              <a:rPr lang="en-US" sz="277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Unbalanced workloads cause some servers to be overloaded while others remain underutilized</a:t>
            </a:r>
          </a:p>
          <a:p>
            <a:pPr marL="599587" lvl="1" indent="-299793" algn="l">
              <a:lnSpc>
                <a:spcPts val="3888"/>
              </a:lnSpc>
              <a:buFont typeface="Arial"/>
              <a:buChar char="•"/>
            </a:pPr>
            <a:r>
              <a:rPr lang="en-US" sz="277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Complexity of managing heterogeneous resources and diverse user demands</a:t>
            </a:r>
          </a:p>
          <a:p>
            <a:pPr marL="599587" lvl="1" indent="-299793" algn="l">
              <a:lnSpc>
                <a:spcPts val="3888"/>
              </a:lnSpc>
              <a:buFont typeface="Arial"/>
              <a:buChar char="•"/>
            </a:pPr>
            <a:r>
              <a:rPr lang="en-US" sz="277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Dynamic and unpredictable nature of user requests makes consistent high utilization difficult</a:t>
            </a:r>
          </a:p>
          <a:p>
            <a:pPr marL="599587" lvl="1" indent="-299793" algn="l">
              <a:lnSpc>
                <a:spcPts val="3888"/>
              </a:lnSpc>
              <a:buFont typeface="Arial"/>
              <a:buChar char="•"/>
            </a:pPr>
            <a:r>
              <a:rPr lang="en-US" sz="277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Service Level Agreements (SLAs) must be maintained despite optimization efforts</a:t>
            </a:r>
          </a:p>
          <a:p>
            <a:pPr algn="l">
              <a:lnSpc>
                <a:spcPts val="3888"/>
              </a:lnSpc>
            </a:pPr>
            <a:endParaRPr lang="en-US" sz="2777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4370" y="1712294"/>
            <a:ext cx="15199260" cy="7683707"/>
            <a:chOff x="0" y="0"/>
            <a:chExt cx="4003097" cy="20236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03097" cy="2023693"/>
            </a:xfrm>
            <a:custGeom>
              <a:avLst/>
              <a:gdLst/>
              <a:ahLst/>
              <a:cxnLst/>
              <a:rect l="l" t="t" r="r" b="b"/>
              <a:pathLst>
                <a:path w="4003097" h="2023693">
                  <a:moveTo>
                    <a:pt x="25977" y="0"/>
                  </a:moveTo>
                  <a:lnTo>
                    <a:pt x="3977120" y="0"/>
                  </a:lnTo>
                  <a:cubicBezTo>
                    <a:pt x="3991467" y="0"/>
                    <a:pt x="4003097" y="11630"/>
                    <a:pt x="4003097" y="25977"/>
                  </a:cubicBezTo>
                  <a:lnTo>
                    <a:pt x="4003097" y="1997715"/>
                  </a:lnTo>
                  <a:cubicBezTo>
                    <a:pt x="4003097" y="2012062"/>
                    <a:pt x="3991467" y="2023693"/>
                    <a:pt x="3977120" y="2023693"/>
                  </a:cubicBezTo>
                  <a:lnTo>
                    <a:pt x="25977" y="2023693"/>
                  </a:lnTo>
                  <a:cubicBezTo>
                    <a:pt x="11630" y="2023693"/>
                    <a:pt x="0" y="2012062"/>
                    <a:pt x="0" y="1997715"/>
                  </a:cubicBezTo>
                  <a:lnTo>
                    <a:pt x="0" y="25977"/>
                  </a:lnTo>
                  <a:cubicBezTo>
                    <a:pt x="0" y="11630"/>
                    <a:pt x="11630" y="0"/>
                    <a:pt x="25977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003097" cy="208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385971" y="3158358"/>
            <a:ext cx="12003595" cy="5543829"/>
          </a:xfrm>
          <a:custGeom>
            <a:avLst/>
            <a:gdLst/>
            <a:ahLst/>
            <a:cxnLst/>
            <a:rect l="l" t="t" r="r" b="b"/>
            <a:pathLst>
              <a:path w="12003595" h="5543829">
                <a:moveTo>
                  <a:pt x="0" y="0"/>
                </a:moveTo>
                <a:lnTo>
                  <a:pt x="12003595" y="0"/>
                </a:lnTo>
                <a:lnTo>
                  <a:pt x="12003595" y="5543829"/>
                </a:lnTo>
                <a:lnTo>
                  <a:pt x="0" y="55438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98701" y="1942765"/>
            <a:ext cx="9044465" cy="112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18"/>
              </a:lnSpc>
            </a:pPr>
            <a:r>
              <a:rPr lang="en-US" sz="6227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4370" y="1712294"/>
            <a:ext cx="15199260" cy="7683707"/>
            <a:chOff x="0" y="0"/>
            <a:chExt cx="4003097" cy="20236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03097" cy="2023693"/>
            </a:xfrm>
            <a:custGeom>
              <a:avLst/>
              <a:gdLst/>
              <a:ahLst/>
              <a:cxnLst/>
              <a:rect l="l" t="t" r="r" b="b"/>
              <a:pathLst>
                <a:path w="4003097" h="2023693">
                  <a:moveTo>
                    <a:pt x="25977" y="0"/>
                  </a:moveTo>
                  <a:lnTo>
                    <a:pt x="3977120" y="0"/>
                  </a:lnTo>
                  <a:cubicBezTo>
                    <a:pt x="3991467" y="0"/>
                    <a:pt x="4003097" y="11630"/>
                    <a:pt x="4003097" y="25977"/>
                  </a:cubicBezTo>
                  <a:lnTo>
                    <a:pt x="4003097" y="1997715"/>
                  </a:lnTo>
                  <a:cubicBezTo>
                    <a:pt x="4003097" y="2012062"/>
                    <a:pt x="3991467" y="2023693"/>
                    <a:pt x="3977120" y="2023693"/>
                  </a:cubicBezTo>
                  <a:lnTo>
                    <a:pt x="25977" y="2023693"/>
                  </a:lnTo>
                  <a:cubicBezTo>
                    <a:pt x="11630" y="2023693"/>
                    <a:pt x="0" y="2012062"/>
                    <a:pt x="0" y="1997715"/>
                  </a:cubicBezTo>
                  <a:lnTo>
                    <a:pt x="0" y="25977"/>
                  </a:lnTo>
                  <a:cubicBezTo>
                    <a:pt x="0" y="11630"/>
                    <a:pt x="11630" y="0"/>
                    <a:pt x="25977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003097" cy="208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954141" y="3195712"/>
            <a:ext cx="12379719" cy="4716871"/>
          </a:xfrm>
          <a:custGeom>
            <a:avLst/>
            <a:gdLst/>
            <a:ahLst/>
            <a:cxnLst/>
            <a:rect l="l" t="t" r="r" b="b"/>
            <a:pathLst>
              <a:path w="12379719" h="4716871">
                <a:moveTo>
                  <a:pt x="0" y="0"/>
                </a:moveTo>
                <a:lnTo>
                  <a:pt x="12379718" y="0"/>
                </a:lnTo>
                <a:lnTo>
                  <a:pt x="12379718" y="4716872"/>
                </a:lnTo>
                <a:lnTo>
                  <a:pt x="0" y="4716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98701" y="1942765"/>
            <a:ext cx="9044465" cy="112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18"/>
              </a:lnSpc>
            </a:pPr>
            <a:r>
              <a:rPr lang="en-US" sz="6227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4370" y="1712294"/>
            <a:ext cx="15199260" cy="7683707"/>
            <a:chOff x="0" y="0"/>
            <a:chExt cx="4003097" cy="20236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03097" cy="2023693"/>
            </a:xfrm>
            <a:custGeom>
              <a:avLst/>
              <a:gdLst/>
              <a:ahLst/>
              <a:cxnLst/>
              <a:rect l="l" t="t" r="r" b="b"/>
              <a:pathLst>
                <a:path w="4003097" h="2023693">
                  <a:moveTo>
                    <a:pt x="25977" y="0"/>
                  </a:moveTo>
                  <a:lnTo>
                    <a:pt x="3977120" y="0"/>
                  </a:lnTo>
                  <a:cubicBezTo>
                    <a:pt x="3991467" y="0"/>
                    <a:pt x="4003097" y="11630"/>
                    <a:pt x="4003097" y="25977"/>
                  </a:cubicBezTo>
                  <a:lnTo>
                    <a:pt x="4003097" y="1997715"/>
                  </a:lnTo>
                  <a:cubicBezTo>
                    <a:pt x="4003097" y="2012062"/>
                    <a:pt x="3991467" y="2023693"/>
                    <a:pt x="3977120" y="2023693"/>
                  </a:cubicBezTo>
                  <a:lnTo>
                    <a:pt x="25977" y="2023693"/>
                  </a:lnTo>
                  <a:cubicBezTo>
                    <a:pt x="11630" y="2023693"/>
                    <a:pt x="0" y="2012062"/>
                    <a:pt x="0" y="1997715"/>
                  </a:cubicBezTo>
                  <a:lnTo>
                    <a:pt x="0" y="25977"/>
                  </a:lnTo>
                  <a:cubicBezTo>
                    <a:pt x="0" y="11630"/>
                    <a:pt x="11630" y="0"/>
                    <a:pt x="25977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003097" cy="208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9235" y="2048022"/>
            <a:ext cx="14829531" cy="674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sz="3171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  <a:p>
            <a:pPr marL="684776" lvl="1" indent="-342388" algn="l">
              <a:lnSpc>
                <a:spcPts val="4440"/>
              </a:lnSpc>
              <a:buFont typeface="Arial"/>
              <a:buChar char="•"/>
            </a:pPr>
            <a:r>
              <a:rPr lang="en-US" sz="317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Develop energy-efficient system-based algorithms for cloud resource allocation</a:t>
            </a:r>
          </a:p>
          <a:p>
            <a:pPr marL="684776" lvl="1" indent="-342388" algn="l">
              <a:lnSpc>
                <a:spcPts val="4440"/>
              </a:lnSpc>
              <a:buFont typeface="Arial"/>
              <a:buChar char="•"/>
            </a:pPr>
            <a:r>
              <a:rPr lang="en-US" sz="317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Minimize energy consumption while maximizing resource utilization</a:t>
            </a:r>
          </a:p>
          <a:p>
            <a:pPr marL="684776" lvl="1" indent="-342388" algn="l">
              <a:lnSpc>
                <a:spcPts val="4440"/>
              </a:lnSpc>
              <a:buFont typeface="Arial"/>
              <a:buChar char="•"/>
            </a:pPr>
            <a:r>
              <a:rPr lang="en-US" sz="317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Balance energy efficiency with service quality and performance</a:t>
            </a:r>
          </a:p>
          <a:p>
            <a:pPr marL="684776" lvl="1" indent="-342388" algn="l">
              <a:lnSpc>
                <a:spcPts val="4440"/>
              </a:lnSpc>
              <a:buFont typeface="Arial"/>
              <a:buChar char="•"/>
            </a:pPr>
            <a:r>
              <a:rPr lang="en-US" sz="317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Integrate multiple energy-saving techniques into holistic approaches</a:t>
            </a:r>
          </a:p>
          <a:p>
            <a:pPr marL="684776" lvl="1" indent="-342388" algn="l">
              <a:lnSpc>
                <a:spcPts val="4440"/>
              </a:lnSpc>
              <a:buFont typeface="Arial"/>
              <a:buChar char="•"/>
            </a:pPr>
            <a:r>
              <a:rPr lang="en-US" sz="317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Address challenges of heterogeneous and dynamic cloud environments</a:t>
            </a:r>
          </a:p>
          <a:p>
            <a:pPr marL="684776" lvl="1" indent="-342388" algn="l">
              <a:lnSpc>
                <a:spcPts val="4440"/>
              </a:lnSpc>
              <a:buFont typeface="Arial"/>
              <a:buChar char="•"/>
            </a:pPr>
            <a:r>
              <a:rPr lang="en-US" sz="317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Provide empirical evaluation and comparative analysis of proposed solutions</a:t>
            </a:r>
          </a:p>
          <a:p>
            <a:pPr marL="684776" lvl="1" indent="-342388" algn="l">
              <a:lnSpc>
                <a:spcPts val="4440"/>
              </a:lnSpc>
              <a:buFont typeface="Arial"/>
              <a:buChar char="•"/>
            </a:pPr>
            <a:r>
              <a:rPr lang="en-US" sz="317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Contribute to sustainable cloud computing practices</a:t>
            </a:r>
          </a:p>
          <a:p>
            <a:pPr algn="l">
              <a:lnSpc>
                <a:spcPts val="4440"/>
              </a:lnSpc>
            </a:pPr>
            <a:endParaRPr lang="en-US" sz="3171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600" y="43148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69473" y="677705"/>
            <a:ext cx="7890449" cy="11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774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METHODOLOGY: SYSTEM-BASED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1558" y="2092300"/>
            <a:ext cx="12800242" cy="7763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</a:rPr>
              <a:t>Research 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Develop an optimized task arrangement and energy-efficient resource allocation (EE-RA)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Map tasks on active Virtual Machines (VMs)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Reduce Processing Time (PT) of applications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Maximize average utilization of resources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Minimize energy consumption</a:t>
            </a:r>
          </a:p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</a:rPr>
              <a:t>Proposed Architecture</a:t>
            </a:r>
          </a:p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</a:rPr>
              <a:t>Three-Phase Approach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Task arrangement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VM status identification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Resource Allocation (RA)</a:t>
            </a:r>
          </a:p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</a:rPr>
              <a:t>System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Input tasks enter interface → held in global queue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Task manager handles and dispatches tasks to scheduler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Task scheduler maps tasks to resources based on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three phases are integrated into this process flow</a:t>
            </a:r>
          </a:p>
          <a:p>
            <a:pPr algn="l">
              <a:lnSpc>
                <a:spcPts val="3582"/>
              </a:lnSpc>
            </a:pPr>
            <a:endParaRPr lang="en-US" sz="2558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1000" y="1955593"/>
            <a:ext cx="17273380" cy="7683707"/>
            <a:chOff x="0" y="0"/>
            <a:chExt cx="4549368" cy="20236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49368" cy="2023693"/>
            </a:xfrm>
            <a:custGeom>
              <a:avLst/>
              <a:gdLst/>
              <a:ahLst/>
              <a:cxnLst/>
              <a:rect l="l" t="t" r="r" b="b"/>
              <a:pathLst>
                <a:path w="4549368" h="2023693">
                  <a:moveTo>
                    <a:pt x="22858" y="0"/>
                  </a:moveTo>
                  <a:lnTo>
                    <a:pt x="4526509" y="0"/>
                  </a:lnTo>
                  <a:cubicBezTo>
                    <a:pt x="4532572" y="0"/>
                    <a:pt x="4538386" y="2408"/>
                    <a:pt x="4542673" y="6695"/>
                  </a:cubicBezTo>
                  <a:cubicBezTo>
                    <a:pt x="4546959" y="10982"/>
                    <a:pt x="4549368" y="16796"/>
                    <a:pt x="4549368" y="22858"/>
                  </a:cubicBezTo>
                  <a:lnTo>
                    <a:pt x="4549368" y="2000834"/>
                  </a:lnTo>
                  <a:cubicBezTo>
                    <a:pt x="4549368" y="2013459"/>
                    <a:pt x="4539134" y="2023693"/>
                    <a:pt x="4526509" y="2023693"/>
                  </a:cubicBezTo>
                  <a:lnTo>
                    <a:pt x="22858" y="2023693"/>
                  </a:lnTo>
                  <a:cubicBezTo>
                    <a:pt x="10234" y="2023693"/>
                    <a:pt x="0" y="2013459"/>
                    <a:pt x="0" y="2000834"/>
                  </a:cubicBezTo>
                  <a:lnTo>
                    <a:pt x="0" y="22858"/>
                  </a:lnTo>
                  <a:cubicBezTo>
                    <a:pt x="0" y="10234"/>
                    <a:pt x="10234" y="0"/>
                    <a:pt x="22858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549368" cy="208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7919" y="2021846"/>
            <a:ext cx="9597878" cy="956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3443" lvl="1" algn="l">
              <a:lnSpc>
                <a:spcPts val="4324"/>
              </a:lnSpc>
            </a:pPr>
            <a:r>
              <a:rPr lang="en-US" sz="4000" u="sng" dirty="0">
                <a:solidFill>
                  <a:schemeClr val="tx2"/>
                </a:solidFill>
              </a:rPr>
              <a:t> Phase 1: Task Arrangement (L3F-MGA)</a:t>
            </a:r>
          </a:p>
          <a:p>
            <a:pPr marL="333443" lvl="1" algn="l">
              <a:lnSpc>
                <a:spcPts val="4324"/>
              </a:lnSpc>
            </a:pPr>
            <a:endParaRPr lang="en-US" sz="4000" u="sng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IN" sz="2400" b="1" dirty="0"/>
              <a:t>L3F-MGA 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Levy flight Firefly Modified Genetic 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Hybrid algorithm combining: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Firefly (FF) Algorithm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Genetic Algorithm (GA)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FF algorithm inspired by flashing </a:t>
            </a:r>
            <a:r>
              <a:rPr lang="en-IN" sz="2400" dirty="0" err="1"/>
              <a:t>behavior</a:t>
            </a:r>
            <a:r>
              <a:rPr lang="en-IN" sz="2400" dirty="0"/>
              <a:t> of fireflies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Enhanced with Levy flight instead of random walk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Uses Cauchy mutation to improve firefly attractiveness</a:t>
            </a:r>
          </a:p>
          <a:p>
            <a:pPr>
              <a:buNone/>
            </a:pPr>
            <a:r>
              <a:rPr lang="en-IN" sz="2400" b="1" dirty="0"/>
              <a:t>Task Features Considered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Task Cost (</a:t>
            </a:r>
            <a:r>
              <a:rPr lang="en-IN" sz="2400" dirty="0" err="1"/>
              <a:t>Ftc</a:t>
            </a:r>
            <a:r>
              <a:rPr lang="en-IN" sz="2400" dirty="0"/>
              <a:t>) = data rate × holding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Task Size (Fts) = total size × error probability factor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Task Speed (</a:t>
            </a:r>
            <a:r>
              <a:rPr lang="en-IN" sz="2400" dirty="0" err="1"/>
              <a:t>Ftsp</a:t>
            </a:r>
            <a:r>
              <a:rPr lang="en-IN" sz="2400" dirty="0"/>
              <a:t>) = Turn-Around Time / holding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Task Weight (</a:t>
            </a:r>
            <a:r>
              <a:rPr lang="en-IN" sz="2400" dirty="0" err="1"/>
              <a:t>Ftw</a:t>
            </a:r>
            <a:r>
              <a:rPr lang="en-IN" sz="2400" dirty="0"/>
              <a:t>) = function of task speed and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Number of tasks (FN) = count of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Memory (Fm) = storage locations × size of each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Bandwidth (</a:t>
            </a:r>
            <a:r>
              <a:rPr lang="en-IN" sz="2400" dirty="0" err="1"/>
              <a:t>Fbw</a:t>
            </a:r>
            <a:r>
              <a:rPr lang="en-IN" sz="2400" dirty="0"/>
              <a:t>) = number of tasks × usage 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Disk Space (</a:t>
            </a:r>
            <a:r>
              <a:rPr lang="en-IN" sz="2400" dirty="0" err="1"/>
              <a:t>Fds</a:t>
            </a:r>
            <a:r>
              <a:rPr lang="en-IN" sz="2400" dirty="0"/>
              <a:t>) = free space + used space</a:t>
            </a:r>
          </a:p>
          <a:p>
            <a:pPr marL="666886" lvl="1" indent="-333443" algn="l">
              <a:lnSpc>
                <a:spcPts val="4324"/>
              </a:lnSpc>
              <a:buFont typeface="Arial"/>
              <a:buChar char="•"/>
            </a:pPr>
            <a:endParaRPr lang="en-US" sz="3200" dirty="0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4"/>
              </a:lnSpc>
            </a:pPr>
            <a:endParaRPr lang="en-US" sz="3088" dirty="0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4"/>
              </a:lnSpc>
            </a:pPr>
            <a:endParaRPr lang="en-US" sz="3088" dirty="0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4"/>
              </a:lnSpc>
            </a:pPr>
            <a:endParaRPr lang="en-US" sz="3088" dirty="0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28190" y="1461729"/>
            <a:ext cx="17273380" cy="7683707"/>
            <a:chOff x="0" y="0"/>
            <a:chExt cx="4549368" cy="20236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49368" cy="2023693"/>
            </a:xfrm>
            <a:custGeom>
              <a:avLst/>
              <a:gdLst/>
              <a:ahLst/>
              <a:cxnLst/>
              <a:rect l="l" t="t" r="r" b="b"/>
              <a:pathLst>
                <a:path w="4549368" h="2023693">
                  <a:moveTo>
                    <a:pt x="22858" y="0"/>
                  </a:moveTo>
                  <a:lnTo>
                    <a:pt x="4526509" y="0"/>
                  </a:lnTo>
                  <a:cubicBezTo>
                    <a:pt x="4532572" y="0"/>
                    <a:pt x="4538386" y="2408"/>
                    <a:pt x="4542673" y="6695"/>
                  </a:cubicBezTo>
                  <a:cubicBezTo>
                    <a:pt x="4546959" y="10982"/>
                    <a:pt x="4549368" y="16796"/>
                    <a:pt x="4549368" y="22858"/>
                  </a:cubicBezTo>
                  <a:lnTo>
                    <a:pt x="4549368" y="2000834"/>
                  </a:lnTo>
                  <a:cubicBezTo>
                    <a:pt x="4549368" y="2013459"/>
                    <a:pt x="4539134" y="2023693"/>
                    <a:pt x="4526509" y="2023693"/>
                  </a:cubicBezTo>
                  <a:lnTo>
                    <a:pt x="22858" y="2023693"/>
                  </a:lnTo>
                  <a:cubicBezTo>
                    <a:pt x="10234" y="2023693"/>
                    <a:pt x="0" y="2013459"/>
                    <a:pt x="0" y="2000834"/>
                  </a:cubicBezTo>
                  <a:lnTo>
                    <a:pt x="0" y="22858"/>
                  </a:lnTo>
                  <a:cubicBezTo>
                    <a:pt x="0" y="10234"/>
                    <a:pt x="10234" y="0"/>
                    <a:pt x="22858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549368" cy="208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7919" y="2021846"/>
            <a:ext cx="9597878" cy="809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r>
              <a:rPr lang="en-US" sz="2800" b="1" u="sng" dirty="0">
                <a:solidFill>
                  <a:schemeClr val="tx2"/>
                </a:solidFill>
              </a:rPr>
              <a:t>Phase 2: VM Status Identification</a:t>
            </a:r>
          </a:p>
          <a:p>
            <a:pPr>
              <a:buNone/>
            </a:pPr>
            <a:r>
              <a:rPr lang="en-US" sz="2800" b="1" dirty="0"/>
              <a:t>Problem Addressed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Traditional servers assign tasks without checking VM adequacy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Results in: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Tasks waiting unnecessarily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Increased execution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Resource wastage</a:t>
            </a:r>
          </a:p>
          <a:p>
            <a:pPr>
              <a:buNone/>
            </a:pPr>
            <a:r>
              <a:rPr lang="en-US" sz="2800" b="1" dirty="0"/>
              <a:t>VM Status Table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Recognizes current VM status (idle or running)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VMs arranged in descending order in single array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Idle VMs placed first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Sorted array divided into two groups based on resources: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Group 1: VMs with best resources (adequate quantity)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Group 2: Other VMs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Server checks Group 1 first, reducing resource wastage</a:t>
            </a:r>
          </a:p>
          <a:p>
            <a:pPr algn="l">
              <a:lnSpc>
                <a:spcPts val="4324"/>
              </a:lnSpc>
            </a:pPr>
            <a:endParaRPr lang="en-US" sz="3088" dirty="0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4"/>
              </a:lnSpc>
            </a:pPr>
            <a:endParaRPr lang="en-US" sz="3088" dirty="0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4"/>
              </a:lnSpc>
            </a:pPr>
            <a:endParaRPr lang="en-US" sz="3088" dirty="0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2925" y="-1970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53551" y="1000125"/>
            <a:ext cx="14215049" cy="1808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IN" sz="4000" b="1" dirty="0">
                <a:solidFill>
                  <a:schemeClr val="bg1"/>
                </a:solidFill>
              </a:rPr>
              <a:t>Phase 3: Resource Allocation (E-ANFIS)</a:t>
            </a:r>
          </a:p>
          <a:p>
            <a:pPr>
              <a:buNone/>
            </a:pPr>
            <a:r>
              <a:rPr lang="en-IN" sz="4000" b="1" dirty="0">
                <a:solidFill>
                  <a:schemeClr val="bg1"/>
                </a:solidFill>
              </a:rPr>
              <a:t>E-ANFIS Structure</a:t>
            </a:r>
          </a:p>
          <a:p>
            <a:pPr algn="l">
              <a:lnSpc>
                <a:spcPts val="4492"/>
              </a:lnSpc>
            </a:pPr>
            <a:endParaRPr lang="en-US" sz="3774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53551" y="2168500"/>
            <a:ext cx="12745284" cy="8048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endParaRPr lang="en-IN" sz="2800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IN" sz="28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Entropy-based Adaptive Neuro-Fuzzy Inference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Takes task features and VM status as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Five functional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Output layer measures sum of outputs from preceding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Output signifies most desirable cloud server and VM for tasks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2800" b="1" u="sng" dirty="0">
                <a:solidFill>
                  <a:schemeClr val="bg1"/>
                </a:solidFill>
              </a:rPr>
              <a:t>E-ANFIS Rules</a:t>
            </a:r>
            <a:endParaRPr lang="en-US" b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Uses first-order </a:t>
            </a:r>
            <a:r>
              <a:rPr lang="en-US" sz="2800" dirty="0" err="1">
                <a:solidFill>
                  <a:schemeClr val="bg1"/>
                </a:solidFill>
              </a:rPr>
              <a:t>Sugeno</a:t>
            </a:r>
            <a:r>
              <a:rPr lang="en-US" sz="2800" dirty="0">
                <a:solidFill>
                  <a:schemeClr val="bg1"/>
                </a:solidFill>
              </a:rPr>
              <a:t>-type fuzzy if-then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Example Rules in simple format: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Rule 1: IF (Task has high priority) AND (VM has low load) THEN (Allocate task to this VM)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Rule 2: IF (Task has low priority) AND (VM has medium load) THEN (Consider alternate VM)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Rule 3: IF (Task requires high memory) AND (VM has sufficient memory) THEN (Suitable match)</a:t>
            </a:r>
          </a:p>
          <a:p>
            <a:pPr algn="l">
              <a:lnSpc>
                <a:spcPts val="3582"/>
              </a:lnSpc>
            </a:pPr>
            <a:endParaRPr lang="en-US" sz="28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53551" y="1000125"/>
            <a:ext cx="12310049" cy="8086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200" b="1" u="sng" dirty="0">
                <a:solidFill>
                  <a:schemeClr val="bg1"/>
                </a:solidFill>
              </a:rPr>
              <a:t>Enhanced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Uses entropy to compute firing strength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Entropy-centered firing strength improves decision 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Makes allocation decisions based on VM status and task features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3200" b="1" u="sng" dirty="0">
                <a:solidFill>
                  <a:schemeClr val="bg1"/>
                </a:solidFill>
              </a:rPr>
              <a:t>Mathematical Formulation</a:t>
            </a:r>
          </a:p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</a:rPr>
              <a:t>Optimization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Minimize total energy consumption for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Reduce Processing Time of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Maximize resource utilization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3200" b="1" u="sng" dirty="0">
                <a:solidFill>
                  <a:schemeClr val="bg1"/>
                </a:solidFill>
              </a:rPr>
              <a:t>Key Performance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Processing Time (PT) = completion time - start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Average Turnaround Time (ATT) = completion time - arrival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CPU Memory Usage (MU) = (total memory - used memory) / total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Throughput = (number of files × file size) / time taken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Lower throughput values are better</a:t>
            </a:r>
          </a:p>
          <a:p>
            <a:pPr algn="l">
              <a:lnSpc>
                <a:spcPts val="4492"/>
              </a:lnSpc>
            </a:pPr>
            <a:endParaRPr lang="en-US" sz="3774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1000" y="-419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37A54F-5D53-8967-FF66-6E7CF327D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2725400" cy="7383462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b="1" u="sng" dirty="0">
                <a:solidFill>
                  <a:schemeClr val="bg1"/>
                </a:solidFill>
              </a:rPr>
              <a:t>Experimental Setup</a:t>
            </a:r>
            <a:br>
              <a:rPr lang="en-IN" sz="3600" b="1" u="sng" dirty="0">
                <a:solidFill>
                  <a:schemeClr val="bg1"/>
                </a:solidFill>
              </a:rPr>
            </a:br>
            <a:r>
              <a:rPr lang="en-IN" sz="3600" b="1" u="sng" dirty="0">
                <a:solidFill>
                  <a:schemeClr val="bg1"/>
                </a:solidFill>
              </a:rPr>
              <a:t>Implementation Details</a:t>
            </a:r>
            <a:br>
              <a:rPr lang="en-IN" sz="3100" b="1" dirty="0">
                <a:solidFill>
                  <a:schemeClr val="bg1"/>
                </a:solidFill>
              </a:rPr>
            </a:br>
            <a:br>
              <a:rPr lang="en-IN" sz="3100" b="1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JAVA platform implementation</a:t>
            </a:r>
            <a:br>
              <a:rPr lang="en-IN" sz="3100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Hardware: Intel i5/core i7 processor, 4 GB RAM, 3.20GHZ CPU</a:t>
            </a:r>
            <a:br>
              <a:rPr lang="en-IN" sz="3100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Manually generated dataset with: </a:t>
            </a:r>
            <a:br>
              <a:rPr lang="en-IN" sz="3100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Task ID, Arrival time, Cloudlet Length, Memory requirements</a:t>
            </a:r>
            <a:br>
              <a:rPr lang="en-IN" sz="3100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Seasonal Request Data from keyword search SEO tool</a:t>
            </a:r>
            <a:br>
              <a:rPr lang="en-IN" sz="3100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Randomly generated parameters (Turn-around time, Waiting time)</a:t>
            </a:r>
            <a:br>
              <a:rPr lang="en-IN" sz="3100" dirty="0">
                <a:solidFill>
                  <a:schemeClr val="bg1"/>
                </a:solidFill>
              </a:rPr>
            </a:br>
            <a:br>
              <a:rPr lang="en-IN" sz="3100" dirty="0">
                <a:solidFill>
                  <a:schemeClr val="bg1"/>
                </a:solidFill>
              </a:rPr>
            </a:br>
            <a:r>
              <a:rPr lang="en-IN" sz="3600" b="1" u="sng" dirty="0">
                <a:solidFill>
                  <a:schemeClr val="bg1"/>
                </a:solidFill>
              </a:rPr>
              <a:t>Evaluation Parameters</a:t>
            </a:r>
            <a:br>
              <a:rPr lang="en-IN" sz="3600" b="1" u="sng" dirty="0">
                <a:solidFill>
                  <a:schemeClr val="bg1"/>
                </a:solidFill>
              </a:rPr>
            </a:br>
            <a:br>
              <a:rPr lang="en-IN" sz="3600" b="1" u="sng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Tasks ranging from 5000 to 9000</a:t>
            </a:r>
            <a:br>
              <a:rPr lang="en-IN" sz="3100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Comparison with conventional algorithms: </a:t>
            </a:r>
            <a:br>
              <a:rPr lang="en-IN" sz="3100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Particle Swarm Optimization (PSO)</a:t>
            </a:r>
            <a:br>
              <a:rPr lang="en-IN" sz="3100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Genetic Algorithm (GA)</a:t>
            </a:r>
            <a:br>
              <a:rPr lang="en-IN" sz="3100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ANFIS</a:t>
            </a:r>
            <a:br>
              <a:rPr lang="en-IN" sz="3100" dirty="0">
                <a:solidFill>
                  <a:schemeClr val="bg1"/>
                </a:solidFill>
              </a:rPr>
            </a:br>
            <a:r>
              <a:rPr lang="en-IN" sz="3100" dirty="0">
                <a:solidFill>
                  <a:schemeClr val="bg1"/>
                </a:solidFill>
              </a:rPr>
              <a:t>Cauchy mutation Genetic Algorithm (CM-GA)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473414"/>
            <a:ext cx="8906629" cy="600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77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RESULTS: COMPARATIVE ANALYSIS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8833" y="2134061"/>
            <a:ext cx="9029566" cy="1354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Comparison with State-of-the-Art Approaches</a:t>
            </a:r>
          </a:p>
          <a:p>
            <a:pPr algn="l">
              <a:lnSpc>
                <a:spcPts val="3582"/>
              </a:lnSpc>
            </a:pPr>
            <a:endParaRPr lang="en-US" sz="2558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582"/>
              </a:lnSpc>
            </a:pPr>
            <a:endParaRPr lang="en-US" sz="2558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702C38-0ABB-48EC-0B14-91C3CE436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21" y="3162300"/>
            <a:ext cx="13218320" cy="58563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11BD5C-841A-A718-ADCE-8FDD653AC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171700"/>
            <a:ext cx="11506200" cy="50697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473414"/>
            <a:ext cx="7890449" cy="600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77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RESULTS: ENERGY CONSUMPTION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1558" y="2092300"/>
            <a:ext cx="9029566" cy="3669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6205" lvl="1" algn="l">
              <a:lnSpc>
                <a:spcPts val="3582"/>
              </a:lnSpc>
            </a:pPr>
            <a:endParaRPr lang="en-US" sz="2558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Maintains consistent efficiency across varying workload intensities</a:t>
            </a:r>
          </a:p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Achieves 22-30% energy savings depending on workload characteristics</a:t>
            </a:r>
          </a:p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greatest benefits during medium utilization periods</a:t>
            </a:r>
          </a:p>
          <a:p>
            <a:pPr algn="l">
              <a:lnSpc>
                <a:spcPts val="3582"/>
              </a:lnSpc>
            </a:pPr>
            <a:endParaRPr lang="en-US" sz="2558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473414"/>
            <a:ext cx="8906629" cy="600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77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RESULTS: PERFORMANCE METRICS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8833" y="2468147"/>
            <a:ext cx="9029566" cy="4935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Resource Utilization</a:t>
            </a:r>
          </a:p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Increased average CPU utilization from 45% to 72%</a:t>
            </a:r>
          </a:p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Reduced number of active servers by 35%</a:t>
            </a:r>
          </a:p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Decreased standard deviation of utilization across servers by 40%</a:t>
            </a:r>
          </a:p>
          <a:p>
            <a:pPr algn="l">
              <a:lnSpc>
                <a:spcPts val="3582"/>
              </a:lnSpc>
            </a:pPr>
            <a:endParaRPr lang="en-US" sz="255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 Quality</a:t>
            </a:r>
          </a:p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Maintained SLA violation rate below 2.5%</a:t>
            </a:r>
          </a:p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response time increased by only 5%</a:t>
            </a:r>
          </a:p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Processing time for batch workloads reduced by 12</a:t>
            </a:r>
          </a:p>
          <a:p>
            <a:pPr algn="l">
              <a:lnSpc>
                <a:spcPts val="3582"/>
              </a:lnSpc>
            </a:pPr>
            <a:endParaRPr lang="en-US" sz="255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11130" y="1212973"/>
            <a:ext cx="11865741" cy="7861053"/>
          </a:xfrm>
          <a:custGeom>
            <a:avLst/>
            <a:gdLst/>
            <a:ahLst/>
            <a:cxnLst/>
            <a:rect l="l" t="t" r="r" b="b"/>
            <a:pathLst>
              <a:path w="11865741" h="7861053">
                <a:moveTo>
                  <a:pt x="0" y="0"/>
                </a:moveTo>
                <a:lnTo>
                  <a:pt x="11865740" y="0"/>
                </a:lnTo>
                <a:lnTo>
                  <a:pt x="11865740" y="7861054"/>
                </a:lnTo>
                <a:lnTo>
                  <a:pt x="0" y="7861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08956" y="1948590"/>
            <a:ext cx="14862783" cy="6870323"/>
            <a:chOff x="0" y="0"/>
            <a:chExt cx="4808252" cy="2222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08252" cy="2222615"/>
            </a:xfrm>
            <a:custGeom>
              <a:avLst/>
              <a:gdLst/>
              <a:ahLst/>
              <a:cxnLst/>
              <a:rect l="l" t="t" r="r" b="b"/>
              <a:pathLst>
                <a:path w="4808252" h="2222615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196049"/>
                  </a:lnTo>
                  <a:cubicBezTo>
                    <a:pt x="4808252" y="2203095"/>
                    <a:pt x="4805454" y="2209852"/>
                    <a:pt x="4800471" y="2214834"/>
                  </a:cubicBezTo>
                  <a:cubicBezTo>
                    <a:pt x="4795489" y="2219816"/>
                    <a:pt x="4788733" y="2222615"/>
                    <a:pt x="4781687" y="2222615"/>
                  </a:cubicBezTo>
                  <a:lnTo>
                    <a:pt x="26566" y="2222615"/>
                  </a:lnTo>
                  <a:cubicBezTo>
                    <a:pt x="19520" y="2222615"/>
                    <a:pt x="12763" y="2219816"/>
                    <a:pt x="7781" y="2214834"/>
                  </a:cubicBezTo>
                  <a:cubicBezTo>
                    <a:pt x="2799" y="2209852"/>
                    <a:pt x="0" y="2203095"/>
                    <a:pt x="0" y="2196049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808252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716423" y="2199756"/>
            <a:ext cx="13247848" cy="103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sz="6082" b="1" dirty="0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48575" y="3642556"/>
            <a:ext cx="11390851" cy="2938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Successfully mapped tasks onto active VMs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Reduced overall application Processing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Maximized average resource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Reduced Energy Consumption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Demonstrated superior performance over existing methods</a:t>
            </a:r>
          </a:p>
          <a:p>
            <a:pPr algn="l">
              <a:lnSpc>
                <a:spcPts val="3942"/>
              </a:lnSpc>
            </a:pPr>
            <a:endParaRPr lang="en-US" sz="2816" dirty="0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08956" y="1948590"/>
            <a:ext cx="14862783" cy="6870323"/>
            <a:chOff x="0" y="0"/>
            <a:chExt cx="4808252" cy="2222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08252" cy="2222615"/>
            </a:xfrm>
            <a:custGeom>
              <a:avLst/>
              <a:gdLst/>
              <a:ahLst/>
              <a:cxnLst/>
              <a:rect l="l" t="t" r="r" b="b"/>
              <a:pathLst>
                <a:path w="4808252" h="2222615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196049"/>
                  </a:lnTo>
                  <a:cubicBezTo>
                    <a:pt x="4808252" y="2203095"/>
                    <a:pt x="4805454" y="2209852"/>
                    <a:pt x="4800471" y="2214834"/>
                  </a:cubicBezTo>
                  <a:cubicBezTo>
                    <a:pt x="4795489" y="2219816"/>
                    <a:pt x="4788733" y="2222615"/>
                    <a:pt x="4781687" y="2222615"/>
                  </a:cubicBezTo>
                  <a:lnTo>
                    <a:pt x="26566" y="2222615"/>
                  </a:lnTo>
                  <a:cubicBezTo>
                    <a:pt x="19520" y="2222615"/>
                    <a:pt x="12763" y="2219816"/>
                    <a:pt x="7781" y="2214834"/>
                  </a:cubicBezTo>
                  <a:cubicBezTo>
                    <a:pt x="2799" y="2209852"/>
                    <a:pt x="0" y="2203095"/>
                    <a:pt x="0" y="2196049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808252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716423" y="2199756"/>
            <a:ext cx="13247848" cy="103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sz="6082" b="1" dirty="0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 FUTURE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48575" y="3642556"/>
            <a:ext cx="11390851" cy="348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 b="1" dirty="0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 dirty="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Incorporate machine learning for workload prediction and proactive resource management</a:t>
            </a:r>
          </a:p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 dirty="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Explore integration with renewable energy sources</a:t>
            </a:r>
          </a:p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 dirty="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Extend approach to edge computing environments</a:t>
            </a:r>
          </a:p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 dirty="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Implement and evaluate in real-world cloud infrastructure</a:t>
            </a:r>
          </a:p>
          <a:p>
            <a:pPr algn="l">
              <a:lnSpc>
                <a:spcPts val="3942"/>
              </a:lnSpc>
            </a:pPr>
            <a:endParaRPr lang="en-US" sz="2816" dirty="0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17684" y="2610822"/>
            <a:ext cx="10252632" cy="503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44"/>
              </a:lnSpc>
            </a:pPr>
            <a:r>
              <a:rPr lang="en-US" sz="1700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1053</Words>
  <Application>Microsoft Office PowerPoint</Application>
  <PresentationFormat>Custom</PresentationFormat>
  <Paragraphs>162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Poppins</vt:lpstr>
      <vt:lpstr>Arial</vt:lpstr>
      <vt:lpstr>Calibri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Experimental Setup Implementation Details  JAVA platform implementation Hardware: Intel i5/core i7 processor, 4 GB RAM, 3.20GHZ CPU Manually generated dataset with:  Task ID, Arrival time, Cloudlet Length, Memory requirements Seasonal Request Data from keyword search SEO tool Randomly generated parameters (Turn-around time, Waiting time)  Evaluation Parameters  Tasks ranging from 5000 to 9000 Comparison with conventional algorithms:  Particle Swarm Optimization (PSO) Genetic Algorithm (GA) ANFIS Cauchy mutation Genetic Algorithm (CM-GA)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and White Simple Thesis Defense Presentation</dc:title>
  <dc:creator>Arvind Singh</dc:creator>
  <cp:lastModifiedBy>Arvind Singh</cp:lastModifiedBy>
  <cp:revision>4</cp:revision>
  <dcterms:created xsi:type="dcterms:W3CDTF">2006-08-16T00:00:00Z</dcterms:created>
  <dcterms:modified xsi:type="dcterms:W3CDTF">2025-05-01T06:29:36Z</dcterms:modified>
  <dc:identifier>DAGjUWcJUxI</dc:identifier>
</cp:coreProperties>
</file>